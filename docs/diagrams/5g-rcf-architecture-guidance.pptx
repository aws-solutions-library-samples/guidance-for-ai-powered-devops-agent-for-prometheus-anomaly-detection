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4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" y="45720"/>
            <a:ext cx="86410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for 5G Network Anomaly Detection and Automated Root Cause Analysis on AWS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" y="731520"/>
            <a:ext cx="86410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architecture diagram shows how Amazon Managed Service for Prometheus detects anomalies in a live 5G core and automatically triggers the AWS DevOps Agent to investigate and identify the failing network function.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09728" y="1188720"/>
            <a:ext cx="8613648" cy="0"/>
          </a:xfrm>
          <a:prstGeom prst="line">
            <a:avLst/>
          </a:prstGeom>
          <a:noFill/>
          <a:ln w="25400">
            <a:solidFill>
              <a:srgbClr val="545B6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79408" y="0"/>
            <a:ext cx="3218688" cy="6858000"/>
          </a:xfrm>
          <a:prstGeom prst="rect">
            <a:avLst/>
          </a:prstGeom>
          <a:solidFill>
            <a:srgbClr val="EAEDED"/>
          </a:solidFill>
          <a:ln w="12700">
            <a:solidFill>
              <a:srgbClr val="EAED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0" y="16459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00032" y="146304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Elastic Kubernetes Service (Amazon EKS)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hosts the open5gs 5G core and the UERANSIM radio access network (100 gNodeBs, 1,000 user equipment), which emit registration and session metrics.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052560" y="99212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400032" y="973836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Prometheus agent scrapes the metrics and remote-writes them to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SigV4 signing and IAM Roles for Service Accounts.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052560" y="181965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400032" y="1801368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runs a Random Cut Forest (RCF) anomaly detector on the registered-subscriber count, emitting an anomaly score every 30 seconds.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052560" y="2647188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400032" y="2628900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score crosses the threshold, Alertmanager publishes to an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Simple Notification Service (Amazon SNS)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topic.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052560" y="3474720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400032" y="3456432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SNS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invokes the forwarder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052560" y="430225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400032" y="4283964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reads the DevOps Agent webhook URL and token from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Secrets Manager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then posts the incident. It does not investigate.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52560" y="512978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400032" y="5111496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posts the incident to the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DevOps Agent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which investigates autonomously: it queries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through a Model Context Protocol server on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API Gateway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secured by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Cognito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052560" y="595731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400032" y="5939028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run the guided demo and interactive analysis from an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notebook.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82880" y="1298448"/>
            <a:ext cx="8540496" cy="50749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232F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1335024"/>
            <a:ext cx="8083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9184" y="1645920"/>
            <a:ext cx="8247888" cy="4590288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00A4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38912" y="1682496"/>
            <a:ext cx="7790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(us-east-1)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" y="1993392"/>
            <a:ext cx="2761488" cy="27889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FF9900"/>
            </a:solidFill>
            <a:prstDash val="solid"/>
          </a:ln>
        </p:spPr>
      </p:sp>
      <p:pic>
        <p:nvPicPr>
          <p:cNvPr id="27" name="Image 0" descr="/Users/mdsherif/Library/CloudStorage/WorkDocsDrive-Documents/MyMac/06Tools/24-ai-devops-amp/docs/diagrams/icons/AmazonElasticKubernetes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2029968"/>
            <a:ext cx="292608" cy="29260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59536" y="2029968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EKS · open5gs-amp-cluster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85216" y="2395728"/>
            <a:ext cx="2542032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545B6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UERANSIM RAN — 100 gNodeBs · 1,000 UEs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85216" y="2907792"/>
            <a:ext cx="254203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545B6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open5gs 5G Core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AMF · SMF · 4x UPF · NRF/UDM/PCF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85216" y="3621024"/>
            <a:ext cx="2542032" cy="566928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agent (ADOT)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 + remote_write (SigV4)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365760" y="2103120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pic>
        <p:nvPicPr>
          <p:cNvPr id="33" name="Image 1" descr="/Users/mdsherif/Library/CloudStorage/WorkDocsDrive-Documents/MyMac/06Tools/24-ai-devops-amp/docs/diagrams/icons/AmazonManagedServiceforPromethe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2103120"/>
            <a:ext cx="548640" cy="548640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3200400" y="2670048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Prometheus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3611880" y="3218688"/>
            <a:ext cx="1783080" cy="438912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RCF anomaly detector · score &gt; 0.1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3675888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4791456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pic>
        <p:nvPicPr>
          <p:cNvPr id="38" name="Image 2" descr="/Users/mdsherif/Library/CloudStorage/WorkDocsDrive-Documents/MyMac/06Tools/24-ai-devops-amp/docs/diagrams/icons/AmazonSimpleNotificationServi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103120"/>
            <a:ext cx="548640" cy="548640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263640" y="267004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SNS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trigger topic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6556248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pic>
        <p:nvPicPr>
          <p:cNvPr id="41" name="Image 3" descr="/Users/mdsherif/Library/CloudStorage/WorkDocsDrive-Documents/MyMac/06Tools/24-ai-devops-amp/docs/diagrams/icons/AWSLambd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3657600"/>
            <a:ext cx="548640" cy="548640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6492240" y="422452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forwarder</a:t>
            </a:r>
            <a:endParaRPr lang="en-US" sz="900" dirty="0"/>
          </a:p>
        </p:txBody>
      </p:sp>
      <p:sp>
        <p:nvSpPr>
          <p:cNvPr id="43" name="Text 37"/>
          <p:cNvSpPr/>
          <p:nvPr/>
        </p:nvSpPr>
        <p:spPr>
          <a:xfrm>
            <a:off x="6556248" y="360273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pic>
        <p:nvPicPr>
          <p:cNvPr id="44" name="Image 4" descr="/Users/mdsherif/Library/CloudStorage/WorkDocsDrive-Documents/MyMac/06Tools/24-ai-devops-amp/docs/diagrams/icons/AWSSecretsMana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3931920"/>
            <a:ext cx="548640" cy="548640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5074920" y="4498848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Secrets Manager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URL + token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5138928" y="38770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pic>
        <p:nvPicPr>
          <p:cNvPr id="47" name="Image 5" descr="/Users/mdsherif/Library/CloudStorage/WorkDocsDrive-Documents/MyMac/06Tools/24-ai-devops-amp/docs/diagrams/icons/AWSDevOpsAg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5074920"/>
            <a:ext cx="548640" cy="548640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6515100" y="5641848"/>
            <a:ext cx="13258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DevOps Agent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investigation</a:t>
            </a:r>
            <a:endParaRPr lang="en-US" sz="900" dirty="0"/>
          </a:p>
        </p:txBody>
      </p:sp>
      <p:sp>
        <p:nvSpPr>
          <p:cNvPr id="49" name="Text 41"/>
          <p:cNvSpPr/>
          <p:nvPr/>
        </p:nvSpPr>
        <p:spPr>
          <a:xfrm>
            <a:off x="6556248" y="50200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pic>
        <p:nvPicPr>
          <p:cNvPr id="50" name="Image 6" descr="/Users/mdsherif/Library/CloudStorage/WorkDocsDrive-Documents/MyMac/06Tools/24-ai-devops-amp/docs/diagrams/icons/AmazonSageMak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5074920"/>
            <a:ext cx="548640" cy="548640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502920" y="564184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notebook</a:t>
            </a:r>
            <a:endParaRPr lang="en-US" sz="900" dirty="0"/>
          </a:p>
        </p:txBody>
      </p:sp>
      <p:sp>
        <p:nvSpPr>
          <p:cNvPr id="52" name="Text 43"/>
          <p:cNvSpPr/>
          <p:nvPr/>
        </p:nvSpPr>
        <p:spPr>
          <a:xfrm>
            <a:off x="786384" y="5102352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53" name="Shape 44"/>
          <p:cNvSpPr/>
          <p:nvPr/>
        </p:nvSpPr>
        <p:spPr>
          <a:xfrm>
            <a:off x="3291840" y="5010912"/>
            <a:ext cx="3017520" cy="9601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54" name="Text 45"/>
          <p:cNvSpPr/>
          <p:nvPr/>
        </p:nvSpPr>
        <p:spPr>
          <a:xfrm>
            <a:off x="3291840" y="5038344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MCP — on-demand metric queries</a:t>
            </a:r>
            <a:endParaRPr lang="en-US" sz="900" dirty="0"/>
          </a:p>
        </p:txBody>
      </p:sp>
      <p:pic>
        <p:nvPicPr>
          <p:cNvPr id="55" name="Image 7" descr="/Users/mdsherif/Library/CloudStorage/WorkDocsDrive-Documents/MyMac/06Tools/24-ai-devops-amp/docs/diagrams/icons/AmazonCognit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11880" y="5321808"/>
            <a:ext cx="548640" cy="548640"/>
          </a:xfrm>
          <a:prstGeom prst="rect">
            <a:avLst/>
          </a:prstGeom>
        </p:spPr>
      </p:pic>
      <p:sp>
        <p:nvSpPr>
          <p:cNvPr id="56" name="Text 46"/>
          <p:cNvSpPr/>
          <p:nvPr/>
        </p:nvSpPr>
        <p:spPr>
          <a:xfrm>
            <a:off x="3383280" y="5888736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Cognito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M2M OAuth2</a:t>
            </a:r>
            <a:endParaRPr lang="en-US" sz="900" dirty="0"/>
          </a:p>
        </p:txBody>
      </p:sp>
      <p:pic>
        <p:nvPicPr>
          <p:cNvPr id="57" name="Image 8" descr="/Users/mdsherif/Library/CloudStorage/WorkDocsDrive-Documents/MyMac/06Tools/24-ai-devops-amp/docs/diagrams/icons/AmazonAPIGatewa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17720" y="5321808"/>
            <a:ext cx="548640" cy="548640"/>
          </a:xfrm>
          <a:prstGeom prst="rect">
            <a:avLst/>
          </a:prstGeom>
        </p:spPr>
      </p:pic>
      <p:sp>
        <p:nvSpPr>
          <p:cNvPr id="58" name="Text 47"/>
          <p:cNvSpPr/>
          <p:nvPr/>
        </p:nvSpPr>
        <p:spPr>
          <a:xfrm>
            <a:off x="4411980" y="5888736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API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</a:t>
            </a:r>
            <a:endParaRPr lang="en-US" sz="900" dirty="0"/>
          </a:p>
        </p:txBody>
      </p:sp>
      <p:pic>
        <p:nvPicPr>
          <p:cNvPr id="59" name="Image 9" descr="/Users/mdsherif/Library/CloudStorage/WorkDocsDrive-Documents/MyMac/06Tools/24-ai-devops-amp/docs/diagrams/icons/AWSLambd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0" y="5321808"/>
            <a:ext cx="548640" cy="548640"/>
          </a:xfrm>
          <a:prstGeom prst="rect">
            <a:avLst/>
          </a:prstGeom>
        </p:spPr>
      </p:pic>
      <p:sp>
        <p:nvSpPr>
          <p:cNvPr id="60" name="Text 48"/>
          <p:cNvSpPr/>
          <p:nvPr/>
        </p:nvSpPr>
        <p:spPr>
          <a:xfrm>
            <a:off x="5440680" y="5888736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</a:t>
            </a:r>
            <a:endParaRPr lang="en-US" sz="900" dirty="0"/>
          </a:p>
        </p:txBody>
      </p:sp>
      <p:sp>
        <p:nvSpPr>
          <p:cNvPr id="61" name="Shape 49"/>
          <p:cNvSpPr/>
          <p:nvPr/>
        </p:nvSpPr>
        <p:spPr>
          <a:xfrm>
            <a:off x="3236976" y="2377440"/>
            <a:ext cx="1060704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2" name="Shape 50"/>
          <p:cNvSpPr/>
          <p:nvPr/>
        </p:nvSpPr>
        <p:spPr>
          <a:xfrm>
            <a:off x="5394960" y="2377440"/>
            <a:ext cx="123444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3" name="Shape 51"/>
          <p:cNvSpPr/>
          <p:nvPr/>
        </p:nvSpPr>
        <p:spPr>
          <a:xfrm>
            <a:off x="7178040" y="2697480"/>
            <a:ext cx="0" cy="96012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4" name="Shape 52"/>
          <p:cNvSpPr/>
          <p:nvPr/>
        </p:nvSpPr>
        <p:spPr>
          <a:xfrm>
            <a:off x="6035040" y="4206240"/>
            <a:ext cx="86868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5" name="Shape 53"/>
          <p:cNvSpPr/>
          <p:nvPr/>
        </p:nvSpPr>
        <p:spPr>
          <a:xfrm>
            <a:off x="7178040" y="4261104"/>
            <a:ext cx="0" cy="813816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6" name="Shape 54"/>
          <p:cNvSpPr/>
          <p:nvPr/>
        </p:nvSpPr>
        <p:spPr>
          <a:xfrm>
            <a:off x="6309360" y="5440680"/>
            <a:ext cx="86868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headEnd type="arrow"/>
          </a:ln>
        </p:spPr>
      </p:sp>
      <p:sp>
        <p:nvSpPr>
          <p:cNvPr id="67" name="Text 55"/>
          <p:cNvSpPr/>
          <p:nvPr/>
        </p:nvSpPr>
        <p:spPr>
          <a:xfrm>
            <a:off x="109728" y="6620256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2026, Amazon Web Services, Inc. or its affiliates. All rights reserved.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2026-08-04T16:41:42Z</dcterms:created>
  <dcterms:modified xsi:type="dcterms:W3CDTF">2026-08-04T16:41:42Z</dcterms:modified>
</cp:coreProperties>
</file>