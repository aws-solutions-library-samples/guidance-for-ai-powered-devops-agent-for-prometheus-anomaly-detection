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2976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 applies Random Cut Forest anomaly detection to a live 5G core, then runs an automated root-cause-analysis pipeline that identifies the failing network function and hands the incident to the AWS DevOps Agent.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74320" y="713232"/>
            <a:ext cx="116128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777240"/>
            <a:ext cx="3977640" cy="566928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8961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04504" y="8686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**Amazon Elastic Kubernetes Service (Amazon EKS)** hosts the open5gs 5G core (AMF, SMF, UPF) and the UERANSIM radio access network (100 gNodeBs, 1,000 UEs), which emit registration and session metrics.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75320" y="15057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04504" y="14782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**Amazon Managed Service for Prometheus** using SigV4 signing and IAM Roles for Service Accounts.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75320" y="21153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04504" y="20878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**Amazon Managed Service for Prometheus** runs a Random Cut Forest (RCF) anomaly detector on the aggregate registered-subscriber count, emitting an anomaly score every 30 seconds.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75320" y="27249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04504" y="26974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the alerting rule fires and Alertmanager publishes to an **Amazon Simple Notification Service (Amazon SNS)** topic.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275320" y="33345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04504" y="33070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**Amazon SNS** invokes the root-cause-analysis **AWS Lambda** function.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75320" y="39441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04504" y="39166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**AWS Lambda** function queries **Amazon Managed Service for Prometheus** for per-network-function registration and pod restarts to pinpoint the failed function.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75320" y="45537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604504" y="45262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function retrieves the DevOps Agent webhook URL and token from **AWS Secrets Manager**.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75320" y="51633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04504" y="51358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function posts an incident to the **AWS DevOps Agent** for autonomous investigation; the agent can also query metrics on demand through a Model Context Protocol server on **Amazon API Gateway**, secured by **Amazon Cognito**.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75320" y="57729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04504" y="57454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**Amazon SageMaker** notebook.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777240"/>
            <a:ext cx="7726680" cy="566928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65760" y="79552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1051560"/>
            <a:ext cx="7406640" cy="5303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0972D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548640" y="106984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" y="1371600"/>
            <a:ext cx="2788920" cy="2697480"/>
          </a:xfrm>
          <a:prstGeom prst="rect">
            <a:avLst/>
          </a:prstGeom>
          <a:solidFill>
            <a:srgbClr val="EAF3FB">
              <a:alpha val="65000"/>
            </a:srgbClr>
          </a:solidFill>
          <a:ln w="12700">
            <a:solidFill>
              <a:srgbClr val="FF9900"/>
            </a:solidFill>
            <a:prstDash val="solid"/>
          </a:ln>
        </p:spPr>
      </p:sp>
      <p:pic>
        <p:nvPicPr>
          <p:cNvPr id="29" name="Image 0" descr="/Users/mdsherif/Library/CloudStorage/WorkDocsDrive-Documents/MyMac/06Tools/24-ai-devops-amp/docs/diagrams/icons/AmazonElasticKubernetes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17320"/>
            <a:ext cx="292608" cy="292608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042416" y="14356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· open5gs-amp-cluster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77240" y="1828800"/>
            <a:ext cx="2514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 — 100 gNodeBs · 1,000 UEs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77240" y="2377440"/>
            <a:ext cx="2514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777240" y="3200400"/>
            <a:ext cx="2514600" cy="640080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512064" y="1554480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pic>
        <p:nvPicPr>
          <p:cNvPr id="35" name="Image 1" descr="/Users/mdsherif/Library/CloudStorage/WorkDocsDrive-Documents/MyMac/06Tools/24-ai-devops-amp/docs/diagrams/icons/AmazonManagedServiceforPromethe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37160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703320" y="183794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3977640" y="2331720"/>
            <a:ext cx="1737360" cy="457200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 — score &gt; 0.1 · 30s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3703320" y="142646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5486400" y="142646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pic>
        <p:nvPicPr>
          <p:cNvPr id="40" name="Image 2" descr="/Users/mdsherif/Library/CloudStorage/WorkDocsDrive-Documents/MyMac/06Tools/24-ai-devops-amp/docs/diagrams/icons/AmazonSimpleNotificationServ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371600"/>
            <a:ext cx="457200" cy="457200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6172200" y="183794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RCA trigger topic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6035040" y="142646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pic>
        <p:nvPicPr>
          <p:cNvPr id="43" name="Image 3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743200"/>
            <a:ext cx="457200" cy="457200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6172200" y="320954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Root-cause analysis</a:t>
            </a:r>
            <a:endParaRPr lang="en-US" sz="800" dirty="0"/>
          </a:p>
        </p:txBody>
      </p:sp>
      <p:sp>
        <p:nvSpPr>
          <p:cNvPr id="45" name="Text 39"/>
          <p:cNvSpPr/>
          <p:nvPr/>
        </p:nvSpPr>
        <p:spPr>
          <a:xfrm>
            <a:off x="6035040" y="279806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46" name="Text 40"/>
          <p:cNvSpPr/>
          <p:nvPr/>
        </p:nvSpPr>
        <p:spPr>
          <a:xfrm>
            <a:off x="5760720" y="2697480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pic>
        <p:nvPicPr>
          <p:cNvPr id="47" name="Image 4" descr="/Users/mdsherif/Library/CloudStorage/WorkDocsDrive-Documents/MyMac/06Tools/24-ai-devops-amp/docs/diagrams/icons/AWSSecretsMana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3246120"/>
            <a:ext cx="457200" cy="457200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3794760" y="371246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webhook url+token</a:t>
            </a:r>
            <a:endParaRPr lang="en-US" sz="800" dirty="0"/>
          </a:p>
        </p:txBody>
      </p:sp>
      <p:sp>
        <p:nvSpPr>
          <p:cNvPr id="49" name="Text 42"/>
          <p:cNvSpPr/>
          <p:nvPr/>
        </p:nvSpPr>
        <p:spPr>
          <a:xfrm>
            <a:off x="5257800" y="3200400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pic>
        <p:nvPicPr>
          <p:cNvPr id="50" name="Image 5" descr="/Users/mdsherif/Library/CloudStorage/WorkDocsDrive-Documents/MyMac/06Tools/24-ai-devops-amp/docs/diagrams/icons/AWSDevOps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4069080"/>
            <a:ext cx="457200" cy="457200"/>
          </a:xfrm>
          <a:prstGeom prst="rect">
            <a:avLst/>
          </a:prstGeom>
        </p:spPr>
      </p:pic>
      <p:sp>
        <p:nvSpPr>
          <p:cNvPr id="51" name="Text 43"/>
          <p:cNvSpPr/>
          <p:nvPr/>
        </p:nvSpPr>
        <p:spPr>
          <a:xfrm>
            <a:off x="6172200" y="453542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800" dirty="0"/>
          </a:p>
        </p:txBody>
      </p:sp>
      <p:sp>
        <p:nvSpPr>
          <p:cNvPr id="52" name="Text 44"/>
          <p:cNvSpPr/>
          <p:nvPr/>
        </p:nvSpPr>
        <p:spPr>
          <a:xfrm>
            <a:off x="6035040" y="412394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pic>
        <p:nvPicPr>
          <p:cNvPr id="53" name="Image 6" descr="/Users/mdsherif/Library/CloudStorage/WorkDocsDrive-Documents/MyMac/06Tools/24-ai-devops-amp/docs/diagrams/icons/AmazonSageMak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0200" y="4709160"/>
            <a:ext cx="457200" cy="457200"/>
          </a:xfrm>
          <a:prstGeom prst="rect">
            <a:avLst/>
          </a:prstGeom>
        </p:spPr>
      </p:pic>
      <p:sp>
        <p:nvSpPr>
          <p:cNvPr id="54" name="Text 45"/>
          <p:cNvSpPr/>
          <p:nvPr/>
        </p:nvSpPr>
        <p:spPr>
          <a:xfrm>
            <a:off x="777240" y="517550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 — Demo notebook</a:t>
            </a:r>
            <a:endParaRPr lang="en-US" sz="800" dirty="0"/>
          </a:p>
        </p:txBody>
      </p:sp>
      <p:sp>
        <p:nvSpPr>
          <p:cNvPr id="55" name="Text 46"/>
          <p:cNvSpPr/>
          <p:nvPr/>
        </p:nvSpPr>
        <p:spPr>
          <a:xfrm>
            <a:off x="603504" y="4736592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4892040" y="5029200"/>
            <a:ext cx="2971800" cy="1280160"/>
          </a:xfrm>
          <a:prstGeom prst="rect">
            <a:avLst/>
          </a:prstGeom>
          <a:solidFill>
            <a:srgbClr val="F3EEFC">
              <a:alpha val="6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7" name="Text 48"/>
          <p:cNvSpPr/>
          <p:nvPr/>
        </p:nvSpPr>
        <p:spPr>
          <a:xfrm>
            <a:off x="4965192" y="5056632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server (on-demand query)</a:t>
            </a:r>
            <a:endParaRPr lang="en-US" sz="800" dirty="0"/>
          </a:p>
        </p:txBody>
      </p:sp>
      <p:pic>
        <p:nvPicPr>
          <p:cNvPr id="58" name="Image 7" descr="/Users/mdsherif/Library/CloudStorage/WorkDocsDrive-Documents/MyMac/06Tools/24-ai-devops-amp/docs/diagrams/icons/AmazonCognit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60" y="5285232"/>
            <a:ext cx="457200" cy="457200"/>
          </a:xfrm>
          <a:prstGeom prst="rect">
            <a:avLst/>
          </a:prstGeom>
        </p:spPr>
      </p:pic>
      <p:sp>
        <p:nvSpPr>
          <p:cNvPr id="59" name="Text 49"/>
          <p:cNvSpPr/>
          <p:nvPr/>
        </p:nvSpPr>
        <p:spPr>
          <a:xfrm>
            <a:off x="4937760" y="5751576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endParaRPr lang="en-US" sz="750" dirty="0"/>
          </a:p>
        </p:txBody>
      </p:sp>
      <p:pic>
        <p:nvPicPr>
          <p:cNvPr id="60" name="Image 8" descr="/Users/mdsherif/Library/CloudStorage/WorkDocsDrive-Documents/MyMac/06Tools/24-ai-devops-amp/docs/diagrams/icons/AmazonAPIGatewa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5060" y="5285232"/>
            <a:ext cx="457200" cy="457200"/>
          </a:xfrm>
          <a:prstGeom prst="rect">
            <a:avLst/>
          </a:prstGeom>
        </p:spPr>
      </p:pic>
      <p:sp>
        <p:nvSpPr>
          <p:cNvPr id="61" name="Text 50"/>
          <p:cNvSpPr/>
          <p:nvPr/>
        </p:nvSpPr>
        <p:spPr>
          <a:xfrm>
            <a:off x="5943600" y="5751576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 Gateway</a:t>
            </a:r>
            <a:endParaRPr lang="en-US" sz="750" dirty="0"/>
          </a:p>
        </p:txBody>
      </p:sp>
      <p:pic>
        <p:nvPicPr>
          <p:cNvPr id="62" name="Image 9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55180" y="5285232"/>
            <a:ext cx="457200" cy="457200"/>
          </a:xfrm>
          <a:prstGeom prst="rect">
            <a:avLst/>
          </a:prstGeom>
        </p:spPr>
      </p:pic>
      <p:sp>
        <p:nvSpPr>
          <p:cNvPr id="63" name="Text 51"/>
          <p:cNvSpPr/>
          <p:nvPr/>
        </p:nvSpPr>
        <p:spPr>
          <a:xfrm>
            <a:off x="6949440" y="5751576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endParaRPr lang="en-US" sz="750" dirty="0"/>
          </a:p>
        </p:txBody>
      </p:sp>
      <p:sp>
        <p:nvSpPr>
          <p:cNvPr id="64" name="Shape 52"/>
          <p:cNvSpPr/>
          <p:nvPr/>
        </p:nvSpPr>
        <p:spPr>
          <a:xfrm>
            <a:off x="3429000" y="1737360"/>
            <a:ext cx="274320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triangle"/>
          </a:ln>
        </p:spPr>
      </p:sp>
      <p:sp>
        <p:nvSpPr>
          <p:cNvPr id="65" name="Shape 53"/>
          <p:cNvSpPr/>
          <p:nvPr/>
        </p:nvSpPr>
        <p:spPr>
          <a:xfrm>
            <a:off x="5989320" y="1737360"/>
            <a:ext cx="182880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triangle"/>
          </a:ln>
        </p:spPr>
      </p:sp>
      <p:sp>
        <p:nvSpPr>
          <p:cNvPr id="66" name="Shape 54"/>
          <p:cNvSpPr/>
          <p:nvPr/>
        </p:nvSpPr>
        <p:spPr>
          <a:xfrm>
            <a:off x="7040880" y="2148840"/>
            <a:ext cx="0" cy="59436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</p:sp>
      <p:sp>
        <p:nvSpPr>
          <p:cNvPr id="67" name="Shape 55"/>
          <p:cNvSpPr/>
          <p:nvPr/>
        </p:nvSpPr>
        <p:spPr>
          <a:xfrm>
            <a:off x="5852160" y="2926080"/>
            <a:ext cx="320040" cy="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  <a:headEnd type="triangle"/>
          </a:ln>
        </p:spPr>
      </p:sp>
      <p:sp>
        <p:nvSpPr>
          <p:cNvPr id="68" name="Shape 56"/>
          <p:cNvSpPr/>
          <p:nvPr/>
        </p:nvSpPr>
        <p:spPr>
          <a:xfrm>
            <a:off x="5532120" y="3429000"/>
            <a:ext cx="640080" cy="0"/>
          </a:xfrm>
          <a:prstGeom prst="line">
            <a:avLst/>
          </a:prstGeom>
          <a:noFill/>
          <a:ln w="15875">
            <a:solidFill>
              <a:srgbClr val="D13212"/>
            </a:solidFill>
            <a:prstDash val="solid"/>
            <a:tailEnd type="triangle"/>
          </a:ln>
        </p:spPr>
      </p:sp>
      <p:sp>
        <p:nvSpPr>
          <p:cNvPr id="69" name="Shape 57"/>
          <p:cNvSpPr/>
          <p:nvPr/>
        </p:nvSpPr>
        <p:spPr>
          <a:xfrm>
            <a:off x="7040880" y="3566160"/>
            <a:ext cx="0" cy="50292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</p:sp>
      <p:sp>
        <p:nvSpPr>
          <p:cNvPr id="70" name="Shape 58"/>
          <p:cNvSpPr/>
          <p:nvPr/>
        </p:nvSpPr>
        <p:spPr>
          <a:xfrm>
            <a:off x="7040880" y="4892040"/>
            <a:ext cx="0" cy="13716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</p:sp>
      <p:sp>
        <p:nvSpPr>
          <p:cNvPr id="71" name="Shape 59"/>
          <p:cNvSpPr/>
          <p:nvPr/>
        </p:nvSpPr>
        <p:spPr>
          <a:xfrm>
            <a:off x="5715000" y="2926080"/>
            <a:ext cx="0" cy="210312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  <a:headEnd type="triangle"/>
          </a:ln>
        </p:spPr>
      </p:sp>
      <p:sp>
        <p:nvSpPr>
          <p:cNvPr id="72" name="Shape 60"/>
          <p:cNvSpPr/>
          <p:nvPr/>
        </p:nvSpPr>
        <p:spPr>
          <a:xfrm>
            <a:off x="3063240" y="5029200"/>
            <a:ext cx="502920" cy="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</a:ln>
        </p:spPr>
      </p:sp>
      <p:sp>
        <p:nvSpPr>
          <p:cNvPr id="73" name="Shape 61"/>
          <p:cNvSpPr/>
          <p:nvPr/>
        </p:nvSpPr>
        <p:spPr>
          <a:xfrm>
            <a:off x="3566160" y="1783080"/>
            <a:ext cx="0" cy="324612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</a:ln>
        </p:spPr>
      </p:sp>
      <p:sp>
        <p:nvSpPr>
          <p:cNvPr id="74" name="Shape 62"/>
          <p:cNvSpPr/>
          <p:nvPr/>
        </p:nvSpPr>
        <p:spPr>
          <a:xfrm>
            <a:off x="3566160" y="1783080"/>
            <a:ext cx="137160" cy="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  <a:tailEnd type="triangle"/>
          </a:ln>
        </p:spPr>
      </p:sp>
      <p:sp>
        <p:nvSpPr>
          <p:cNvPr id="75" name="Text 63"/>
          <p:cNvSpPr/>
          <p:nvPr/>
        </p:nvSpPr>
        <p:spPr>
          <a:xfrm>
            <a:off x="274320" y="658368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2026-08-03T10:40:20Z</dcterms:created>
  <dcterms:modified xsi:type="dcterms:W3CDTF">2026-08-03T10:40:20Z</dcterms:modified>
</cp:coreProperties>
</file>