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for 5G Anomaly Detection Using RCF on AWS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1148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architecture shows how Amazon Managed Prometheus with Random Cut Forest detects 5G subscriber anomalies caused by infrastructure faults on Amazon EKS.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82880" y="685800"/>
            <a:ext cx="117957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92440" y="731520"/>
            <a:ext cx="3886200" cy="5943600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02168" y="932688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94776" y="841248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UEs (UERANSIM) connect via 4 gNodeBs to 2 AMFs partitioned by Tracking Area Code.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02168" y="1655064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94776" y="1563624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open5gs 5G Core on Amazon EKS: AMF registration, SMF session management, 4 UPF instances.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202168" y="2377440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494776" y="2286000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scrapes NF metrics (/metrics:9090) every 15s with fallback scrape protocol.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02168" y="3099816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494776" y="3008376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remote_writes to Amazon Managed Service for Prometheus via SigV4 (IRSA).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02168" y="3822192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494776" y="3730752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RCF anomaly detector evaluates sum(registeredsubnbr) every 30s; publishes score and bands.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02168" y="4544568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494776" y="4453128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rule fires instantly (for: 0s) when anomaly_detector:score exceeds 0.1.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02168" y="5266944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494776" y="5175504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 (Prometheus MCP) exposes PromQL via Amazon API Gateway + Amazon Cognito OAuth2.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02168" y="5989320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494776" y="5897880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SageMaker notebook or DevOps Agent correlates subscriber drop with pod restarts.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731520"/>
            <a:ext cx="7635240" cy="5943600"/>
          </a:xfrm>
          <a:prstGeom prst="rect">
            <a:avLst/>
          </a:prstGeom>
          <a:solidFill>
            <a:srgbClr val="FFFFFF"/>
          </a:solidFill>
          <a:ln w="15875">
            <a:solidFill>
              <a:srgbClr val="232F3E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365760" y="758952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960120"/>
            <a:ext cx="7269480" cy="5577840"/>
          </a:xfrm>
          <a:prstGeom prst="rect">
            <a:avLst/>
          </a:prstGeom>
          <a:solidFill>
            <a:srgbClr val="FCFCFC"/>
          </a:solidFill>
          <a:ln w="9525">
            <a:solidFill>
              <a:srgbClr val="0972D3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48640" y="987552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(us-east-1)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594360" y="1188720"/>
            <a:ext cx="4023360" cy="5212080"/>
          </a:xfrm>
          <a:prstGeom prst="rect">
            <a:avLst/>
          </a:prstGeom>
          <a:solidFill>
            <a:srgbClr val="FFFCF8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7512" y="121615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EKS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85800" y="1444752"/>
            <a:ext cx="3794760" cy="1051560"/>
          </a:xfrm>
          <a:prstGeom prst="rect">
            <a:avLst/>
          </a:prstGeom>
          <a:solidFill>
            <a:srgbClr val="EBF5FF"/>
          </a:solidFill>
          <a:ln w="6350">
            <a:solidFill>
              <a:srgbClr val="0972D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1472184"/>
            <a:ext cx="1371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UERANSIM (RAN)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777240" y="1673352"/>
            <a:ext cx="822960" cy="685800"/>
          </a:xfrm>
          <a:prstGeom prst="rect">
            <a:avLst/>
          </a:prstGeom>
          <a:solidFill>
            <a:srgbClr val="B8DAF8"/>
          </a:solidFill>
          <a:ln w="6350">
            <a:solidFill>
              <a:srgbClr val="0972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gNB-1a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UEs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691640" y="1673352"/>
            <a:ext cx="822960" cy="685800"/>
          </a:xfrm>
          <a:prstGeom prst="rect">
            <a:avLst/>
          </a:prstGeom>
          <a:solidFill>
            <a:srgbClr val="B8DAF8"/>
          </a:solidFill>
          <a:ln w="6350">
            <a:solidFill>
              <a:srgbClr val="0972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gNB-1b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UEs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606040" y="1673352"/>
            <a:ext cx="822960" cy="685800"/>
          </a:xfrm>
          <a:prstGeom prst="rect">
            <a:avLst/>
          </a:prstGeom>
          <a:solidFill>
            <a:srgbClr val="B8DAF8"/>
          </a:solidFill>
          <a:ln w="6350">
            <a:solidFill>
              <a:srgbClr val="0972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gNB-2a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UEs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520440" y="1673352"/>
            <a:ext cx="822960" cy="685800"/>
          </a:xfrm>
          <a:prstGeom prst="rect">
            <a:avLst/>
          </a:prstGeom>
          <a:solidFill>
            <a:srgbClr val="B8DAF8"/>
          </a:solidFill>
          <a:ln w="6350">
            <a:solidFill>
              <a:srgbClr val="0972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gNB-2b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UEs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160520" y="1472184"/>
            <a:ext cx="182880" cy="18288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85800" y="2587752"/>
            <a:ext cx="3794760" cy="1600200"/>
          </a:xfrm>
          <a:prstGeom prst="rect">
            <a:avLst/>
          </a:prstGeom>
          <a:solidFill>
            <a:srgbClr val="FFF6ED"/>
          </a:solidFill>
          <a:ln w="6350">
            <a:solidFill>
              <a:srgbClr val="FF99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2615184"/>
            <a:ext cx="1371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open5gs 5G Core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777240" y="2816352"/>
            <a:ext cx="822960" cy="502920"/>
          </a:xfrm>
          <a:prstGeom prst="rect">
            <a:avLst/>
          </a:prstGeom>
          <a:solidFill>
            <a:srgbClr val="FFD699"/>
          </a:solidFill>
          <a:ln w="6350">
            <a:solidFill>
              <a:srgbClr val="FF990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AMF-1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TAC=1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691640" y="2816352"/>
            <a:ext cx="822960" cy="502920"/>
          </a:xfrm>
          <a:prstGeom prst="rect">
            <a:avLst/>
          </a:prstGeom>
          <a:solidFill>
            <a:srgbClr val="FFD699"/>
          </a:solidFill>
          <a:ln w="6350">
            <a:solidFill>
              <a:srgbClr val="FF990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AMF-2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TAC=2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2606040" y="2907792"/>
            <a:ext cx="640080" cy="365760"/>
          </a:xfrm>
          <a:prstGeom prst="rect">
            <a:avLst/>
          </a:prstGeom>
          <a:solidFill>
            <a:srgbClr val="FFE8CC"/>
          </a:solidFill>
          <a:ln w="6350">
            <a:solidFill>
              <a:srgbClr val="FF990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SMF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337560" y="2907792"/>
            <a:ext cx="822960" cy="365760"/>
          </a:xfrm>
          <a:prstGeom prst="rect">
            <a:avLst/>
          </a:prstGeom>
          <a:solidFill>
            <a:srgbClr val="FFE8CC"/>
          </a:solidFill>
          <a:ln w="6350">
            <a:solidFill>
              <a:srgbClr val="FF990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UPF 1–4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77240" y="3456432"/>
            <a:ext cx="3566160" cy="274320"/>
          </a:xfrm>
          <a:prstGeom prst="rect">
            <a:avLst/>
          </a:prstGeom>
          <a:solidFill>
            <a:srgbClr val="FFF9F2"/>
          </a:solidFill>
          <a:ln w="6350">
            <a:solidFill>
              <a:srgbClr val="DDDDD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NRF | AUSF | UDM | UDR | PCF | NSSF | BSF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777240" y="3822192"/>
            <a:ext cx="1828800" cy="256032"/>
          </a:xfrm>
          <a:prstGeom prst="rect">
            <a:avLst/>
          </a:prstGeom>
          <a:solidFill>
            <a:srgbClr val="D1321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Fault: Bad Config → AMF-1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160520" y="2615184"/>
            <a:ext cx="182880" cy="18288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77240" y="4279392"/>
            <a:ext cx="2194560" cy="548640"/>
          </a:xfrm>
          <a:prstGeom prst="rect">
            <a:avLst/>
          </a:prstGeom>
          <a:solidFill>
            <a:srgbClr val="E0F5E0"/>
          </a:solidFill>
          <a:ln w="9525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8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B8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(kube-prometheus-stack)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3063240" y="4416552"/>
            <a:ext cx="182880" cy="18288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2971800" y="4553712"/>
            <a:ext cx="1737360" cy="0"/>
          </a:xfrm>
          <a:prstGeom prst="line">
            <a:avLst/>
          </a:prstGeom>
          <a:noFill/>
          <a:ln w="15875">
            <a:solidFill>
              <a:srgbClr val="1B8B1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09160" y="1572768"/>
            <a:ext cx="0" cy="2980944"/>
          </a:xfrm>
          <a:prstGeom prst="line">
            <a:avLst/>
          </a:prstGeom>
          <a:noFill/>
          <a:ln w="15875">
            <a:solidFill>
              <a:srgbClr val="1B8B1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709160" y="1572768"/>
            <a:ext cx="137160" cy="0"/>
          </a:xfrm>
          <a:prstGeom prst="line">
            <a:avLst/>
          </a:prstGeom>
          <a:noFill/>
          <a:ln w="15875">
            <a:solidFill>
              <a:srgbClr val="1B8B1B"/>
            </a:solidFill>
            <a:prstDash val="solid"/>
            <a:tailEnd type="arrow"/>
          </a:ln>
        </p:spPr>
      </p:sp>
      <p:sp>
        <p:nvSpPr>
          <p:cNvPr id="49" name="Text 47"/>
          <p:cNvSpPr/>
          <p:nvPr/>
        </p:nvSpPr>
        <p:spPr>
          <a:xfrm>
            <a:off x="4754880" y="320040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1B8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remote_write</a:t>
            </a:r>
            <a:endParaRPr lang="en-US" sz="700" dirty="0"/>
          </a:p>
          <a:p>
            <a:pPr indent="0" marL="0">
              <a:buNone/>
            </a:pPr>
            <a:r>
              <a:rPr lang="en-US" sz="700" i="1" dirty="0">
                <a:solidFill>
                  <a:srgbClr val="1B8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(SigV4/IRSA)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617720" y="2743200"/>
            <a:ext cx="182880" cy="18288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029200" y="1234440"/>
            <a:ext cx="2560320" cy="685800"/>
          </a:xfrm>
          <a:prstGeom prst="rect">
            <a:avLst/>
          </a:prstGeom>
          <a:solidFill>
            <a:srgbClr val="C8E8C8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B8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for Prometheus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029200" y="2103120"/>
            <a:ext cx="1188720" cy="548640"/>
          </a:xfrm>
          <a:prstGeom prst="rect">
            <a:avLst/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RCF Anomaly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355080" y="2103120"/>
            <a:ext cx="1188720" cy="548640"/>
          </a:xfrm>
          <a:prstGeom prst="rect">
            <a:avLst/>
          </a:prstGeom>
          <a:solidFill>
            <a:srgbClr val="D1321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Rule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&gt; 0.1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080760" y="2148840"/>
            <a:ext cx="182880" cy="18288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7360920" y="2148840"/>
            <a:ext cx="182880" cy="18288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029200" y="2834640"/>
            <a:ext cx="1051560" cy="502920"/>
          </a:xfrm>
          <a:prstGeom prst="rect">
            <a:avLst/>
          </a:prstGeom>
          <a:solidFill>
            <a:srgbClr val="F0E6FF"/>
          </a:solidFill>
          <a:ln w="6350">
            <a:solidFill>
              <a:srgbClr val="7C3AE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(Prometheus MCP)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6126480" y="2834640"/>
            <a:ext cx="822960" cy="502920"/>
          </a:xfrm>
          <a:prstGeom prst="rect">
            <a:avLst/>
          </a:prstGeom>
          <a:solidFill>
            <a:srgbClr val="F0E6FF"/>
          </a:solidFill>
          <a:ln w="6350">
            <a:solidFill>
              <a:srgbClr val="7C3AE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Gateway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6995160" y="2834640"/>
            <a:ext cx="594360" cy="502920"/>
          </a:xfrm>
          <a:prstGeom prst="rect">
            <a:avLst/>
          </a:prstGeom>
          <a:solidFill>
            <a:srgbClr val="F0E6FF"/>
          </a:solidFill>
          <a:ln w="6350">
            <a:solidFill>
              <a:srgbClr val="7C3AE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Cognito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60920" y="3154680"/>
            <a:ext cx="182880" cy="18288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029200" y="3520440"/>
            <a:ext cx="1188720" cy="502920"/>
          </a:xfrm>
          <a:prstGeom prst="rect">
            <a:avLst/>
          </a:prstGeom>
          <a:solidFill>
            <a:srgbClr val="E8F4FD"/>
          </a:solidFill>
          <a:ln w="6350">
            <a:solidFill>
              <a:srgbClr val="0972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SageMaker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6309360" y="3520440"/>
            <a:ext cx="1188720" cy="502920"/>
          </a:xfrm>
          <a:prstGeom prst="rect">
            <a:avLst/>
          </a:prstGeom>
          <a:solidFill>
            <a:srgbClr val="E8F4FD"/>
          </a:solidFill>
          <a:ln w="6350">
            <a:solidFill>
              <a:srgbClr val="0972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DevOps Agent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(MCP Client)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7360920" y="3611880"/>
            <a:ext cx="182880" cy="182880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623560" y="1920240"/>
            <a:ext cx="0" cy="182880"/>
          </a:xfrm>
          <a:prstGeom prst="line">
            <a:avLst/>
          </a:prstGeom>
          <a:noFill/>
          <a:ln w="15875">
            <a:solidFill>
              <a:srgbClr val="1B8B1B"/>
            </a:solidFill>
            <a:prstDash val="solid"/>
            <a:tailEnd type="arrow"/>
          </a:ln>
        </p:spPr>
      </p:sp>
      <p:sp>
        <p:nvSpPr>
          <p:cNvPr id="64" name="Shape 62"/>
          <p:cNvSpPr/>
          <p:nvPr/>
        </p:nvSpPr>
        <p:spPr>
          <a:xfrm>
            <a:off x="6217920" y="2377440"/>
            <a:ext cx="137160" cy="0"/>
          </a:xfrm>
          <a:prstGeom prst="line">
            <a:avLst/>
          </a:prstGeom>
          <a:noFill/>
          <a:ln w="15875">
            <a:solidFill>
              <a:srgbClr val="D13212"/>
            </a:solidFill>
            <a:prstDash val="solid"/>
            <a:tailEnd type="arrow"/>
          </a:ln>
        </p:spPr>
      </p:sp>
      <p:sp>
        <p:nvSpPr>
          <p:cNvPr id="65" name="Shape 63"/>
          <p:cNvSpPr/>
          <p:nvPr/>
        </p:nvSpPr>
        <p:spPr>
          <a:xfrm>
            <a:off x="5577840" y="2651760"/>
            <a:ext cx="0" cy="182880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tailEnd type="arrow"/>
          </a:ln>
        </p:spPr>
      </p:sp>
      <p:sp>
        <p:nvSpPr>
          <p:cNvPr id="66" name="Shape 64"/>
          <p:cNvSpPr/>
          <p:nvPr/>
        </p:nvSpPr>
        <p:spPr>
          <a:xfrm>
            <a:off x="5623560" y="3337560"/>
            <a:ext cx="0" cy="182880"/>
          </a:xfrm>
          <a:prstGeom prst="line">
            <a:avLst/>
          </a:prstGeom>
          <a:noFill/>
          <a:ln w="15875">
            <a:solidFill>
              <a:srgbClr val="0972D3"/>
            </a:solidFill>
            <a:prstDash val="solid"/>
            <a:tailEnd type="arrow"/>
          </a:ln>
        </p:spPr>
      </p:sp>
      <p:sp>
        <p:nvSpPr>
          <p:cNvPr id="67" name="Shape 65"/>
          <p:cNvSpPr/>
          <p:nvPr/>
        </p:nvSpPr>
        <p:spPr>
          <a:xfrm>
            <a:off x="2286000" y="2359152"/>
            <a:ext cx="0" cy="228600"/>
          </a:xfrm>
          <a:prstGeom prst="line">
            <a:avLst/>
          </a:prstGeom>
          <a:noFill/>
          <a:ln w="15875">
            <a:solidFill>
              <a:srgbClr val="232F3E"/>
            </a:solidFill>
            <a:prstDash val="solid"/>
            <a:tailEnd type="arrow"/>
          </a:ln>
        </p:spPr>
      </p:sp>
      <p:sp>
        <p:nvSpPr>
          <p:cNvPr id="68" name="Text 66"/>
          <p:cNvSpPr/>
          <p:nvPr/>
        </p:nvSpPr>
        <p:spPr>
          <a:xfrm>
            <a:off x="274320" y="653796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2026, Amazon Web Services, Inc. or its affiliates. All rights reserved. Amazon Confidential and Trademark.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2026-06-23T11:39:33Z</dcterms:created>
  <dcterms:modified xsi:type="dcterms:W3CDTF">2026-06-23T11:39:33Z</dcterms:modified>
</cp:coreProperties>
</file>