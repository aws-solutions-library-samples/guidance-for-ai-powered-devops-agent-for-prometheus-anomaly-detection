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7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" y="91440"/>
            <a:ext cx="8641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 for 5G Network Anomaly Detection and Automated Root Cause Analysis on AWS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" y="768096"/>
            <a:ext cx="8641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45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Managed Service for Prometheus applies Random Cut Forest anomaly detection to a live 5G core, then an automated root-cause-analysis pipeline identifies the failing network function and hands the incident to the AWS DevOps Agent for an autonomous investigation.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9728" y="1188720"/>
            <a:ext cx="8613648" cy="0"/>
          </a:xfrm>
          <a:prstGeom prst="line">
            <a:avLst/>
          </a:prstGeom>
          <a:noFill/>
          <a:ln w="25400">
            <a:solidFill>
              <a:srgbClr val="545B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3218688" cy="6858000"/>
          </a:xfrm>
          <a:prstGeom prst="rect">
            <a:avLst/>
          </a:prstGeom>
          <a:solidFill>
            <a:srgbClr val="EAEDED"/>
          </a:solidFill>
          <a:ln w="12700">
            <a:solidFill>
              <a:srgbClr val="EAED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0" y="164592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00032" y="146304"/>
            <a:ext cx="2706624" cy="699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Elastic Kubernetes Service (Amazon EKS)</a:t>
            </a:r>
            <a:pPr indent="0" marL="0">
              <a:buNone/>
            </a:pPr>
            <a:r>
              <a:rPr lang="en-US" sz="8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hosts the open5gs 5G core and the UERANSIM radio access network (100 gNodeBs, 1,000 UEs), which emit registration and session metrics.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052560" y="900176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400032" y="881888"/>
            <a:ext cx="2706624" cy="699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Prometheus agent scrapes the metrics and remote-writes them to </a:t>
            </a:r>
            <a:pPr indent="0" marL="0">
              <a:buNone/>
            </a:pPr>
            <a:r>
              <a:rPr lang="en-US" sz="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Managed Service for Prometheus</a:t>
            </a:r>
            <a:pPr indent="0" marL="0">
              <a:buNone/>
            </a:pPr>
            <a:r>
              <a:rPr lang="en-US" sz="8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using SigV4 signing and IAM Roles for Service Accounts.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052560" y="1635760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400032" y="1617472"/>
            <a:ext cx="2706624" cy="699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Managed Service for Prometheus</a:t>
            </a:r>
            <a:pPr indent="0" marL="0">
              <a:buNone/>
            </a:pPr>
            <a:r>
              <a:rPr lang="en-US" sz="8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runs a Random Cut Forest (RCF) anomaly detector on the registered-subscriber count, emitting an anomaly score every 30 seconds.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052560" y="2371344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400032" y="2353056"/>
            <a:ext cx="2706624" cy="699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score crosses the threshold, Alertmanager publishes to an </a:t>
            </a:r>
            <a:pPr indent="0" marL="0">
              <a:buNone/>
            </a:pPr>
            <a:r>
              <a:rPr lang="en-US" sz="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Simple Notification Service (Amazon SNS)</a:t>
            </a:r>
            <a:pPr indent="0" marL="0">
              <a:buNone/>
            </a:pPr>
            <a:r>
              <a:rPr lang="en-US" sz="8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topic.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052560" y="3106928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400032" y="3088640"/>
            <a:ext cx="2706624" cy="699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SNS</a:t>
            </a:r>
            <a:pPr indent="0" marL="0">
              <a:buNone/>
            </a:pPr>
            <a:r>
              <a:rPr lang="en-US" sz="8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invokes the root-cause-analysis </a:t>
            </a:r>
            <a:pPr indent="0" marL="0">
              <a:buNone/>
            </a:pPr>
            <a:r>
              <a:rPr lang="en-US" sz="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Lambda</a:t>
            </a:r>
            <a:pPr indent="0" marL="0">
              <a:buNone/>
            </a:pPr>
            <a:r>
              <a:rPr lang="en-US" sz="8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function.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052560" y="3842512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400032" y="3824224"/>
            <a:ext cx="2706624" cy="699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Lambda</a:t>
            </a:r>
            <a:pPr indent="0" marL="0">
              <a:buNone/>
            </a:pPr>
            <a:r>
              <a:rPr lang="en-US" sz="8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queries </a:t>
            </a:r>
            <a:pPr indent="0" marL="0">
              <a:buNone/>
            </a:pPr>
            <a:r>
              <a:rPr lang="en-US" sz="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Managed Service for Prometheus</a:t>
            </a:r>
            <a:pPr indent="0" marL="0">
              <a:buNone/>
            </a:pPr>
            <a:r>
              <a:rPr lang="en-US" sz="8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per-network-function registration and pod restarts to pinpoint the failed function.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052560" y="4578096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400032" y="4559808"/>
            <a:ext cx="2706624" cy="699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Lambda</a:t>
            </a:r>
            <a:pPr indent="0" marL="0">
              <a:buNone/>
            </a:pPr>
            <a:r>
              <a:rPr lang="en-US" sz="8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reads the DevOps Agent webhook URL and token from </a:t>
            </a:r>
            <a:pPr indent="0" marL="0">
              <a:buNone/>
            </a:pPr>
            <a:r>
              <a:rPr lang="en-US" sz="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Secrets Manager</a:t>
            </a:r>
            <a:pPr indent="0" marL="0">
              <a:buNone/>
            </a:pPr>
            <a:r>
              <a:rPr lang="en-US" sz="8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052560" y="5313680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400032" y="5295392"/>
            <a:ext cx="2706624" cy="699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Lambda</a:t>
            </a:r>
            <a:pPr indent="0" marL="0">
              <a:buNone/>
            </a:pPr>
            <a:r>
              <a:rPr lang="en-US" sz="8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posts an incident to the </a:t>
            </a:r>
            <a:pPr indent="0" marL="0">
              <a:buNone/>
            </a:pPr>
            <a:r>
              <a:rPr lang="en-US" sz="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DevOps Agent</a:t>
            </a:r>
            <a:pPr indent="0" marL="0">
              <a:buNone/>
            </a:pPr>
            <a:r>
              <a:rPr lang="en-US" sz="8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which investigates autonomously and can query metrics through a Model Context Protocol server on </a:t>
            </a:r>
            <a:pPr indent="0" marL="0">
              <a:buNone/>
            </a:pPr>
            <a:r>
              <a:rPr lang="en-US" sz="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API Gateway</a:t>
            </a:r>
            <a:pPr indent="0" marL="0">
              <a:buNone/>
            </a:pPr>
            <a:r>
              <a:rPr lang="en-US" sz="8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secured by </a:t>
            </a:r>
            <a:pPr indent="0" marL="0">
              <a:buNone/>
            </a:pPr>
            <a:r>
              <a:rPr lang="en-US" sz="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Cognito</a:t>
            </a:r>
            <a:pPr indent="0" marL="0">
              <a:buNone/>
            </a:pPr>
            <a:r>
              <a:rPr lang="en-US" sz="8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052560" y="6049264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400032" y="6030976"/>
            <a:ext cx="2706624" cy="699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run the guided demo and interactive analysis from an </a:t>
            </a:r>
            <a:pPr indent="0" marL="0">
              <a:buNone/>
            </a:pPr>
            <a:r>
              <a:rPr lang="en-US" sz="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SageMaker</a:t>
            </a:r>
            <a:pPr indent="0" marL="0">
              <a:buNone/>
            </a:pPr>
            <a:r>
              <a:rPr lang="en-US" sz="8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notebook.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82880" y="1298448"/>
            <a:ext cx="8540496" cy="507492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232F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" y="1325880"/>
            <a:ext cx="8174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9184" y="1645920"/>
            <a:ext cx="8247888" cy="4590288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00A4A6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40080" y="1673352"/>
            <a:ext cx="7882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(us-east-1)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" y="1993392"/>
            <a:ext cx="2761488" cy="278892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FF99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" y="2020824"/>
            <a:ext cx="2395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EKS · open5gs-amp-cluster</a:t>
            </a:r>
            <a:endParaRPr lang="en-US" sz="900" dirty="0"/>
          </a:p>
        </p:txBody>
      </p:sp>
      <p:pic>
        <p:nvPicPr>
          <p:cNvPr id="30" name="Image 0" descr="/Users/mdsherif/Library/CloudStorage/WorkDocsDrive-Documents/MyMac/06Tools/24-ai-devops-amp/docs/diagrams/icons/AmazonElasticKubernetesServ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020824"/>
            <a:ext cx="256032" cy="256032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85216" y="2359152"/>
            <a:ext cx="25420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45B6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UERANSIM RAN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gNodeBs · 1,000 UEs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85216" y="2889504"/>
            <a:ext cx="254203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45B6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open5gs 5G Core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AMF · SMF · 4x UPF · NRF/UDM/PCF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85216" y="3621024"/>
            <a:ext cx="2542032" cy="566928"/>
          </a:xfrm>
          <a:prstGeom prst="rect">
            <a:avLst/>
          </a:prstGeom>
          <a:solidFill>
            <a:srgbClr val="DCEEDC"/>
          </a:solidFill>
          <a:ln w="12700">
            <a:solidFill>
              <a:srgbClr val="1B8B1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agent (ADOT)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 + remote_write (SigV4)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65760" y="2103120"/>
            <a:ext cx="237744" cy="237744"/>
          </a:xfrm>
          <a:prstGeom prst="ellipse">
            <a:avLst/>
          </a:prstGeom>
          <a:solidFill>
            <a:srgbClr val="232F3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pic>
        <p:nvPicPr>
          <p:cNvPr id="35" name="Image 1" descr="/Users/mdsherif/Library/CloudStorage/WorkDocsDrive-Documents/MyMac/06Tools/24-ai-devops-amp/docs/diagrams/icons/AmazonSageMak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074920"/>
            <a:ext cx="548640" cy="54864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02920" y="563270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SageMaker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notebook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786384" y="5102352"/>
            <a:ext cx="237744" cy="237744"/>
          </a:xfrm>
          <a:prstGeom prst="ellipse">
            <a:avLst/>
          </a:prstGeom>
          <a:solidFill>
            <a:srgbClr val="232F3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  <p:pic>
        <p:nvPicPr>
          <p:cNvPr id="38" name="Image 2" descr="/Users/mdsherif/Library/CloudStorage/WorkDocsDrive-Documents/MyMac/06Tools/24-ai-devops-amp/docs/diagrams/icons/AmazonManagedServiceforPrometheu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2103120"/>
            <a:ext cx="548640" cy="54864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3383280" y="266090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Managed Service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Prometheus</a:t>
            </a:r>
            <a:endParaRPr lang="en-US" sz="800" dirty="0"/>
          </a:p>
        </p:txBody>
      </p:sp>
      <p:sp>
        <p:nvSpPr>
          <p:cNvPr id="40" name="Text 35"/>
          <p:cNvSpPr/>
          <p:nvPr/>
        </p:nvSpPr>
        <p:spPr>
          <a:xfrm>
            <a:off x="3611880" y="3218688"/>
            <a:ext cx="1783080" cy="457200"/>
          </a:xfrm>
          <a:prstGeom prst="rect">
            <a:avLst/>
          </a:prstGeom>
          <a:solidFill>
            <a:srgbClr val="DCEEDC"/>
          </a:solidFill>
          <a:ln w="12700">
            <a:solidFill>
              <a:srgbClr val="1B8B1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RCF anomaly detector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&gt; 0.1 · 30s</a:t>
            </a:r>
            <a:endParaRPr lang="en-US" sz="750" dirty="0"/>
          </a:p>
        </p:txBody>
      </p:sp>
      <p:sp>
        <p:nvSpPr>
          <p:cNvPr id="41" name="Text 36"/>
          <p:cNvSpPr/>
          <p:nvPr/>
        </p:nvSpPr>
        <p:spPr>
          <a:xfrm>
            <a:off x="3675888" y="2048256"/>
            <a:ext cx="237744" cy="237744"/>
          </a:xfrm>
          <a:prstGeom prst="ellipse">
            <a:avLst/>
          </a:prstGeom>
          <a:solidFill>
            <a:srgbClr val="232F3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42" name="Text 37"/>
          <p:cNvSpPr/>
          <p:nvPr/>
        </p:nvSpPr>
        <p:spPr>
          <a:xfrm>
            <a:off x="4791456" y="2048256"/>
            <a:ext cx="237744" cy="237744"/>
          </a:xfrm>
          <a:prstGeom prst="ellipse">
            <a:avLst/>
          </a:prstGeom>
          <a:solidFill>
            <a:srgbClr val="232F3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pic>
        <p:nvPicPr>
          <p:cNvPr id="43" name="Image 3" descr="/Users/mdsherif/Library/CloudStorage/WorkDocsDrive-Documents/MyMac/06Tools/24-ai-devops-amp/docs/diagrams/icons/AWSSecretsManag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3931920"/>
            <a:ext cx="548640" cy="548640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3383280" y="448970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Secrets Manager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url + token</a:t>
            </a:r>
            <a:endParaRPr lang="en-US" sz="800" dirty="0"/>
          </a:p>
        </p:txBody>
      </p:sp>
      <p:sp>
        <p:nvSpPr>
          <p:cNvPr id="45" name="Text 39"/>
          <p:cNvSpPr/>
          <p:nvPr/>
        </p:nvSpPr>
        <p:spPr>
          <a:xfrm>
            <a:off x="3675888" y="3877056"/>
            <a:ext cx="237744" cy="237744"/>
          </a:xfrm>
          <a:prstGeom prst="ellipse">
            <a:avLst/>
          </a:prstGeom>
          <a:solidFill>
            <a:srgbClr val="232F3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46" name="Shape 40"/>
          <p:cNvSpPr/>
          <p:nvPr/>
        </p:nvSpPr>
        <p:spPr>
          <a:xfrm>
            <a:off x="3547872" y="5010912"/>
            <a:ext cx="2331720" cy="96012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3858768" y="5038344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MCP (on-demand query)</a:t>
            </a:r>
            <a:endParaRPr lang="en-US" sz="900" dirty="0"/>
          </a:p>
        </p:txBody>
      </p:sp>
      <p:pic>
        <p:nvPicPr>
          <p:cNvPr id="48" name="Image 4" descr="/Users/mdsherif/Library/CloudStorage/WorkDocsDrive-Documents/MyMac/06Tools/24-ai-devops-amp/docs/diagrams/icons/AmazonCognit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7328" y="5285232"/>
            <a:ext cx="548640" cy="548640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3127248" y="584301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Cognito</a:t>
            </a:r>
            <a:endParaRPr lang="en-US" sz="700" dirty="0"/>
          </a:p>
        </p:txBody>
      </p:sp>
      <p:pic>
        <p:nvPicPr>
          <p:cNvPr id="50" name="Image 5" descr="/Users/mdsherif/Library/CloudStorage/WorkDocsDrive-Documents/MyMac/06Tools/24-ai-devops-amp/docs/diagrams/icons/AmazonAPIGatew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0" y="5285232"/>
            <a:ext cx="548640" cy="548640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3840480" y="584301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API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700" dirty="0"/>
          </a:p>
        </p:txBody>
      </p:sp>
      <p:pic>
        <p:nvPicPr>
          <p:cNvPr id="52" name="Image 6" descr="/Users/mdsherif/Library/CloudStorage/WorkDocsDrive-Documents/MyMac/06Tools/24-ai-devops-amp/docs/diagrams/icons/AWSLambd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3792" y="5285232"/>
            <a:ext cx="548640" cy="548640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4553712" y="584301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</a:t>
            </a:r>
            <a:endParaRPr lang="en-US" sz="700" dirty="0"/>
          </a:p>
        </p:txBody>
      </p:sp>
      <p:pic>
        <p:nvPicPr>
          <p:cNvPr id="54" name="Image 7" descr="/Users/mdsherif/Library/CloudStorage/WorkDocsDrive-Documents/MyMac/06Tools/24-ai-devops-amp/docs/diagrams/icons/AmazonSimpleNotificationServic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3720" y="2103120"/>
            <a:ext cx="548640" cy="548640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6263640" y="266090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RCA trigger topic</a:t>
            </a:r>
            <a:endParaRPr lang="en-US" sz="800" dirty="0"/>
          </a:p>
        </p:txBody>
      </p:sp>
      <p:sp>
        <p:nvSpPr>
          <p:cNvPr id="56" name="Text 46"/>
          <p:cNvSpPr/>
          <p:nvPr/>
        </p:nvSpPr>
        <p:spPr>
          <a:xfrm>
            <a:off x="6556248" y="2048256"/>
            <a:ext cx="237744" cy="237744"/>
          </a:xfrm>
          <a:prstGeom prst="ellipse">
            <a:avLst/>
          </a:prstGeom>
          <a:solidFill>
            <a:srgbClr val="232F3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pic>
        <p:nvPicPr>
          <p:cNvPr id="57" name="Image 8" descr="/Users/mdsherif/Library/CloudStorage/WorkDocsDrive-Documents/MyMac/06Tools/24-ai-devops-amp/docs/diagrams/icons/AWSLambd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03720" y="3657600"/>
            <a:ext cx="548640" cy="548640"/>
          </a:xfrm>
          <a:prstGeom prst="rect">
            <a:avLst/>
          </a:prstGeom>
        </p:spPr>
      </p:pic>
      <p:sp>
        <p:nvSpPr>
          <p:cNvPr id="58" name="Text 47"/>
          <p:cNvSpPr/>
          <p:nvPr/>
        </p:nvSpPr>
        <p:spPr>
          <a:xfrm>
            <a:off x="6263640" y="421538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Lambda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Root-cause analysis</a:t>
            </a:r>
            <a:endParaRPr lang="en-US" sz="800" dirty="0"/>
          </a:p>
        </p:txBody>
      </p:sp>
      <p:sp>
        <p:nvSpPr>
          <p:cNvPr id="59" name="Text 48"/>
          <p:cNvSpPr/>
          <p:nvPr/>
        </p:nvSpPr>
        <p:spPr>
          <a:xfrm>
            <a:off x="6556248" y="3602736"/>
            <a:ext cx="237744" cy="237744"/>
          </a:xfrm>
          <a:prstGeom prst="ellipse">
            <a:avLst/>
          </a:prstGeom>
          <a:solidFill>
            <a:srgbClr val="232F3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60" name="Text 49"/>
          <p:cNvSpPr/>
          <p:nvPr/>
        </p:nvSpPr>
        <p:spPr>
          <a:xfrm>
            <a:off x="7799832" y="3602736"/>
            <a:ext cx="237744" cy="237744"/>
          </a:xfrm>
          <a:prstGeom prst="ellipse">
            <a:avLst/>
          </a:prstGeom>
          <a:solidFill>
            <a:srgbClr val="232F3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pic>
        <p:nvPicPr>
          <p:cNvPr id="61" name="Image 9" descr="/Users/mdsherif/Library/CloudStorage/WorkDocsDrive-Documents/MyMac/06Tools/24-ai-devops-amp/docs/diagrams/icons/AWSDevOpsAgen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3720" y="5074920"/>
            <a:ext cx="548640" cy="548640"/>
          </a:xfrm>
          <a:prstGeom prst="rect">
            <a:avLst/>
          </a:prstGeom>
        </p:spPr>
      </p:pic>
      <p:sp>
        <p:nvSpPr>
          <p:cNvPr id="62" name="Text 50"/>
          <p:cNvSpPr/>
          <p:nvPr/>
        </p:nvSpPr>
        <p:spPr>
          <a:xfrm>
            <a:off x="6263640" y="563270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DevOps Agent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investigation</a:t>
            </a:r>
            <a:endParaRPr lang="en-US" sz="800" dirty="0"/>
          </a:p>
        </p:txBody>
      </p:sp>
      <p:sp>
        <p:nvSpPr>
          <p:cNvPr id="63" name="Text 51"/>
          <p:cNvSpPr/>
          <p:nvPr/>
        </p:nvSpPr>
        <p:spPr>
          <a:xfrm>
            <a:off x="6556248" y="5020056"/>
            <a:ext cx="237744" cy="237744"/>
          </a:xfrm>
          <a:prstGeom prst="ellipse">
            <a:avLst/>
          </a:prstGeom>
          <a:solidFill>
            <a:srgbClr val="232F3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64" name="Shape 52"/>
          <p:cNvSpPr/>
          <p:nvPr/>
        </p:nvSpPr>
        <p:spPr>
          <a:xfrm>
            <a:off x="3236976" y="2377440"/>
            <a:ext cx="1060704" cy="0"/>
          </a:xfrm>
          <a:prstGeom prst="line">
            <a:avLst/>
          </a:prstGeom>
          <a:noFill/>
          <a:ln w="15875">
            <a:solidFill>
              <a:srgbClr val="1B8B1B"/>
            </a:solidFill>
            <a:prstDash val="solid"/>
            <a:tailEnd type="arrow"/>
          </a:ln>
        </p:spPr>
      </p:sp>
      <p:sp>
        <p:nvSpPr>
          <p:cNvPr id="65" name="Shape 53"/>
          <p:cNvSpPr/>
          <p:nvPr/>
        </p:nvSpPr>
        <p:spPr>
          <a:xfrm>
            <a:off x="5120640" y="2377440"/>
            <a:ext cx="1508760" cy="0"/>
          </a:xfrm>
          <a:prstGeom prst="line">
            <a:avLst/>
          </a:prstGeom>
          <a:noFill/>
          <a:ln w="15875">
            <a:solidFill>
              <a:srgbClr val="545B64"/>
            </a:solidFill>
            <a:prstDash val="solid"/>
            <a:tailEnd type="arrow"/>
          </a:ln>
        </p:spPr>
      </p:sp>
      <p:sp>
        <p:nvSpPr>
          <p:cNvPr id="66" name="Shape 54"/>
          <p:cNvSpPr/>
          <p:nvPr/>
        </p:nvSpPr>
        <p:spPr>
          <a:xfrm>
            <a:off x="7178040" y="2697480"/>
            <a:ext cx="0" cy="960120"/>
          </a:xfrm>
          <a:prstGeom prst="line">
            <a:avLst/>
          </a:prstGeom>
          <a:noFill/>
          <a:ln w="15875">
            <a:solidFill>
              <a:srgbClr val="7C3AED"/>
            </a:solidFill>
            <a:prstDash val="solid"/>
            <a:tailEnd type="arrow"/>
          </a:ln>
        </p:spPr>
      </p:sp>
      <p:sp>
        <p:nvSpPr>
          <p:cNvPr id="67" name="Shape 55"/>
          <p:cNvSpPr/>
          <p:nvPr/>
        </p:nvSpPr>
        <p:spPr>
          <a:xfrm>
            <a:off x="4846320" y="4206240"/>
            <a:ext cx="1783080" cy="0"/>
          </a:xfrm>
          <a:prstGeom prst="line">
            <a:avLst/>
          </a:prstGeom>
          <a:noFill/>
          <a:ln w="15875">
            <a:solidFill>
              <a:srgbClr val="D13212"/>
            </a:solidFill>
            <a:prstDash val="solid"/>
            <a:tailEnd type="arrow"/>
          </a:ln>
        </p:spPr>
      </p:sp>
      <p:sp>
        <p:nvSpPr>
          <p:cNvPr id="68" name="Shape 56"/>
          <p:cNvSpPr/>
          <p:nvPr/>
        </p:nvSpPr>
        <p:spPr>
          <a:xfrm>
            <a:off x="7178040" y="4261104"/>
            <a:ext cx="0" cy="813816"/>
          </a:xfrm>
          <a:prstGeom prst="line">
            <a:avLst/>
          </a:prstGeom>
          <a:noFill/>
          <a:ln w="15875">
            <a:solidFill>
              <a:srgbClr val="7C3AED"/>
            </a:solidFill>
            <a:prstDash val="solid"/>
            <a:tailEnd type="arrow"/>
          </a:ln>
        </p:spPr>
      </p:sp>
      <p:sp>
        <p:nvSpPr>
          <p:cNvPr id="69" name="Shape 57"/>
          <p:cNvSpPr/>
          <p:nvPr/>
        </p:nvSpPr>
        <p:spPr>
          <a:xfrm>
            <a:off x="5879592" y="5440680"/>
            <a:ext cx="1298448" cy="0"/>
          </a:xfrm>
          <a:prstGeom prst="line">
            <a:avLst/>
          </a:prstGeom>
          <a:noFill/>
          <a:ln w="15875">
            <a:solidFill>
              <a:srgbClr val="7C3AED"/>
            </a:solidFill>
            <a:prstDash val="solid"/>
            <a:headEnd type="arrow"/>
          </a:ln>
        </p:spPr>
      </p:sp>
      <p:sp>
        <p:nvSpPr>
          <p:cNvPr id="70" name="Text 58"/>
          <p:cNvSpPr/>
          <p:nvPr/>
        </p:nvSpPr>
        <p:spPr>
          <a:xfrm>
            <a:off x="109728" y="6620256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45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2026-08-04T14:34:26Z</dcterms:created>
  <dcterms:modified xsi:type="dcterms:W3CDTF">2026-08-04T14:34:26Z</dcterms:modified>
</cp:coreProperties>
</file>