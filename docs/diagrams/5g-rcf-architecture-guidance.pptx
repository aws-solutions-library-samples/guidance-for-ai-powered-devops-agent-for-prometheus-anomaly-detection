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4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Relationship Id="rId15" Type="http://schemas.openxmlformats.org/officeDocument/2006/relationships/image" Target="../media/image3.png"/><Relationship Id="rId16" Type="http://schemas.openxmlformats.org/officeDocument/2006/relationships/image" Target="../media/image4.png"/><Relationship Id="rId17" Type="http://schemas.openxmlformats.org/officeDocument/2006/relationships/image" Target="../media/image5.png"/><Relationship Id="rId18" Type="http://schemas.openxmlformats.org/officeDocument/2006/relationships/image" Target="../media/image6.png"/><Relationship Id="rId19" Type="http://schemas.openxmlformats.org/officeDocument/2006/relationships/image" Target="../media/image7.png"/><Relationship Id="rId20" Type="http://schemas.openxmlformats.org/officeDocument/2006/relationships/image" Target="../media/image8.png"/><Relationship Id="rId21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" y="45720"/>
            <a:ext cx="86410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Guidance for 5G Network Anomaly Detection and Automated Root Cause Analysis on AWS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" y="731520"/>
            <a:ext cx="86410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architecture diagram shows how Amazon Managed Service for Prometheus detects 5G core anomalies and automatically triggers the AWS DevOps Agent to investigate and identify the failing network function.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979408" y="0"/>
            <a:ext cx="3218688" cy="6858000"/>
          </a:xfrm>
          <a:prstGeom prst="rect">
            <a:avLst/>
          </a:prstGeom>
          <a:solidFill>
            <a:srgbClr val="EAEDED"/>
          </a:solidFill>
          <a:ln w="12700">
            <a:solidFill>
              <a:srgbClr val="EAED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052560" y="164592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00032" y="146304"/>
            <a:ext cx="270662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Elastic Kubernetes Service (Amazon EKS)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hosts the open5gs 5G core and the UERANSIM radio access network (100 gNodeBs, 1,000 user equipment), which emit registration and session metrics.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052560" y="1199170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400032" y="1180882"/>
            <a:ext cx="270662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Prometheus agent scrapes the metrics and remote-writes them to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Managed Service for Prometheus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using SigV4 signing and IAM Roles for Service Accounts.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052560" y="2087445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400032" y="2069157"/>
            <a:ext cx="270662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Managed Service for Prometheus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runs a Random Cut Forest (RCF) anomaly detector on the registered-subscriber count, emitting an anomaly score every 30 seconds.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052560" y="2975719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400032" y="2957431"/>
            <a:ext cx="2706624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score crosses the threshold, Alertmanager publishes to an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Simple Notification Service (Amazon SNS)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topic.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052560" y="3717689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400032" y="3699401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SNS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invokes the forwarder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function.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052560" y="4313355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400032" y="4295067"/>
            <a:ext cx="2706624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reads the DevOps Agent webhook URL and token from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Secrets Manager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then posts the incident. It does not investigate.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052560" y="5055326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400032" y="5037038"/>
            <a:ext cx="270662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posts the incident to the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DevOps Agent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which investigates autonomously: it queries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Managed Service for Prometheus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through a Model Context Protocol server on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API Gateway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secured by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Cognito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052560" y="6236208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400032" y="6217920"/>
            <a:ext cx="2706624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Engineers run the guided demo and interactive analysis from an 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SageMaker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notebook.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82880" y="1298448"/>
            <a:ext cx="8540496" cy="507492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232F3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2608" y="1335024"/>
            <a:ext cx="80832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9184" y="1645920"/>
            <a:ext cx="8247888" cy="4590288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00A4A6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438912" y="1682496"/>
            <a:ext cx="77906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4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(us-east-1)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5488" y="1993392"/>
            <a:ext cx="2761488" cy="278892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FF990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859536" y="2029968"/>
            <a:ext cx="2304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EKS · open5gs-amp-cluster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585216" y="2395728"/>
            <a:ext cx="2542032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545B64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UERANSIM RAN — 100 gNodeBs · 1,000 UEs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85216" y="2907792"/>
            <a:ext cx="254203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545B64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open5gs 5G Core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AMF · SMF · 4x UPF · NRF/UDM/PCF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585216" y="3621024"/>
            <a:ext cx="2542032" cy="566928"/>
          </a:xfrm>
          <a:prstGeom prst="rect">
            <a:avLst/>
          </a:prstGeom>
          <a:solidFill>
            <a:srgbClr val="DCEEDC"/>
          </a:solidFill>
          <a:ln w="12700">
            <a:solidFill>
              <a:srgbClr val="1B8B1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agent (ADOT)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scrape + remote_write (SigV4)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265176" y="1810512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3200400" y="2670048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Managed Service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Prometheus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3611880" y="3218688"/>
            <a:ext cx="1783080" cy="530352"/>
          </a:xfrm>
          <a:prstGeom prst="rect">
            <a:avLst/>
          </a:prstGeom>
          <a:solidFill>
            <a:srgbClr val="DCEEDC"/>
          </a:solidFill>
          <a:ln w="12700">
            <a:solidFill>
              <a:srgbClr val="1B8B1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RCF anomaly detector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&gt; 0.1 · every 30s</a:t>
            </a:r>
            <a:endParaRPr lang="en-US" sz="900" dirty="0"/>
          </a:p>
        </p:txBody>
      </p:sp>
      <p:sp>
        <p:nvSpPr>
          <p:cNvPr id="36" name="Text 32"/>
          <p:cNvSpPr/>
          <p:nvPr/>
        </p:nvSpPr>
        <p:spPr>
          <a:xfrm>
            <a:off x="3675888" y="204825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37" name="Text 33"/>
          <p:cNvSpPr/>
          <p:nvPr/>
        </p:nvSpPr>
        <p:spPr>
          <a:xfrm>
            <a:off x="4791456" y="204825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39" name="Text 34"/>
          <p:cNvSpPr/>
          <p:nvPr/>
        </p:nvSpPr>
        <p:spPr>
          <a:xfrm>
            <a:off x="6263640" y="267004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SNS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trigger topic</a:t>
            </a:r>
            <a:endParaRPr lang="en-US" sz="900" dirty="0"/>
          </a:p>
        </p:txBody>
      </p:sp>
      <p:sp>
        <p:nvSpPr>
          <p:cNvPr id="40" name="Text 35"/>
          <p:cNvSpPr/>
          <p:nvPr/>
        </p:nvSpPr>
        <p:spPr>
          <a:xfrm>
            <a:off x="6556248" y="204825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6492240" y="4224528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 forwarder</a:t>
            </a:r>
            <a:endParaRPr lang="en-US" sz="900" dirty="0"/>
          </a:p>
        </p:txBody>
      </p:sp>
      <p:sp>
        <p:nvSpPr>
          <p:cNvPr id="43" name="Text 37"/>
          <p:cNvSpPr/>
          <p:nvPr/>
        </p:nvSpPr>
        <p:spPr>
          <a:xfrm>
            <a:off x="6556248" y="360273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45" name="Text 38"/>
          <p:cNvSpPr/>
          <p:nvPr/>
        </p:nvSpPr>
        <p:spPr>
          <a:xfrm>
            <a:off x="5074920" y="4498848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Secrets Manager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 URL + token</a:t>
            </a:r>
            <a:endParaRPr lang="en-US" sz="900" dirty="0"/>
          </a:p>
        </p:txBody>
      </p:sp>
      <p:sp>
        <p:nvSpPr>
          <p:cNvPr id="46" name="Text 39"/>
          <p:cNvSpPr/>
          <p:nvPr/>
        </p:nvSpPr>
        <p:spPr>
          <a:xfrm>
            <a:off x="5138928" y="387705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48" name="Text 40"/>
          <p:cNvSpPr/>
          <p:nvPr/>
        </p:nvSpPr>
        <p:spPr>
          <a:xfrm>
            <a:off x="6515100" y="5641848"/>
            <a:ext cx="132588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DevOps Agent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investigation</a:t>
            </a:r>
            <a:endParaRPr lang="en-US" sz="900" dirty="0"/>
          </a:p>
        </p:txBody>
      </p:sp>
      <p:sp>
        <p:nvSpPr>
          <p:cNvPr id="49" name="Text 41"/>
          <p:cNvSpPr/>
          <p:nvPr/>
        </p:nvSpPr>
        <p:spPr>
          <a:xfrm>
            <a:off x="6556248" y="502005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51" name="Text 42"/>
          <p:cNvSpPr/>
          <p:nvPr/>
        </p:nvSpPr>
        <p:spPr>
          <a:xfrm>
            <a:off x="502920" y="564184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SageMaker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notebook</a:t>
            </a:r>
            <a:endParaRPr lang="en-US" sz="900" dirty="0"/>
          </a:p>
        </p:txBody>
      </p:sp>
      <p:sp>
        <p:nvSpPr>
          <p:cNvPr id="52" name="Text 43"/>
          <p:cNvSpPr/>
          <p:nvPr/>
        </p:nvSpPr>
        <p:spPr>
          <a:xfrm>
            <a:off x="786384" y="5102352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53" name="Shape 44"/>
          <p:cNvSpPr/>
          <p:nvPr/>
        </p:nvSpPr>
        <p:spPr>
          <a:xfrm>
            <a:off x="3291840" y="4892040"/>
            <a:ext cx="3017520" cy="132588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54" name="Text 45"/>
          <p:cNvSpPr/>
          <p:nvPr/>
        </p:nvSpPr>
        <p:spPr>
          <a:xfrm>
            <a:off x="3291840" y="4919472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MCP — on-demand metric queries</a:t>
            </a:r>
            <a:endParaRPr lang="en-US" sz="900" dirty="0"/>
          </a:p>
        </p:txBody>
      </p:sp>
      <p:sp>
        <p:nvSpPr>
          <p:cNvPr id="56" name="Text 46"/>
          <p:cNvSpPr/>
          <p:nvPr/>
        </p:nvSpPr>
        <p:spPr>
          <a:xfrm>
            <a:off x="3383280" y="5705856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Cognito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M2M OAuth2</a:t>
            </a:r>
            <a:endParaRPr lang="en-US" sz="900" dirty="0"/>
          </a:p>
        </p:txBody>
      </p:sp>
      <p:sp>
        <p:nvSpPr>
          <p:cNvPr id="58" name="Text 47"/>
          <p:cNvSpPr/>
          <p:nvPr/>
        </p:nvSpPr>
        <p:spPr>
          <a:xfrm>
            <a:off x="4411980" y="5705856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API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</a:t>
            </a:r>
            <a:endParaRPr lang="en-US" sz="900" dirty="0"/>
          </a:p>
        </p:txBody>
      </p:sp>
      <p:sp>
        <p:nvSpPr>
          <p:cNvPr id="60" name="Text 48"/>
          <p:cNvSpPr/>
          <p:nvPr/>
        </p:nvSpPr>
        <p:spPr>
          <a:xfrm>
            <a:off x="5440680" y="5705856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</a:t>
            </a:r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</a:t>
            </a:r>
            <a:endParaRPr lang="en-US" sz="900" dirty="0"/>
          </a:p>
        </p:txBody>
      </p:sp>
      <p:sp>
        <p:nvSpPr>
          <p:cNvPr id="61" name="Shape 49"/>
          <p:cNvSpPr/>
          <p:nvPr/>
        </p:nvSpPr>
        <p:spPr>
          <a:xfrm>
            <a:off x="3236976" y="2377440"/>
            <a:ext cx="713232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arrow"/>
          </a:ln>
        </p:spPr>
      </p:sp>
      <p:sp>
        <p:nvSpPr>
          <p:cNvPr id="62" name="Shape 50"/>
          <p:cNvSpPr/>
          <p:nvPr/>
        </p:nvSpPr>
        <p:spPr>
          <a:xfrm>
            <a:off x="5394960" y="2377440"/>
            <a:ext cx="1234440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arrow"/>
          </a:ln>
        </p:spPr>
      </p:sp>
      <p:sp>
        <p:nvSpPr>
          <p:cNvPr id="63" name="Shape 51"/>
          <p:cNvSpPr/>
          <p:nvPr/>
        </p:nvSpPr>
        <p:spPr>
          <a:xfrm>
            <a:off x="7178040" y="3054096"/>
            <a:ext cx="0" cy="603504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arrow"/>
          </a:ln>
        </p:spPr>
      </p:sp>
      <p:sp>
        <p:nvSpPr>
          <p:cNvPr id="64" name="Shape 52"/>
          <p:cNvSpPr/>
          <p:nvPr/>
        </p:nvSpPr>
        <p:spPr>
          <a:xfrm>
            <a:off x="6035040" y="4206240"/>
            <a:ext cx="758952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arrow"/>
          </a:ln>
        </p:spPr>
      </p:sp>
      <p:sp>
        <p:nvSpPr>
          <p:cNvPr id="65" name="Shape 53"/>
          <p:cNvSpPr/>
          <p:nvPr/>
        </p:nvSpPr>
        <p:spPr>
          <a:xfrm>
            <a:off x="7178040" y="4608576"/>
            <a:ext cx="0" cy="466344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arrow"/>
          </a:ln>
        </p:spPr>
      </p:sp>
      <p:sp>
        <p:nvSpPr>
          <p:cNvPr id="66" name="Shape 54"/>
          <p:cNvSpPr/>
          <p:nvPr/>
        </p:nvSpPr>
        <p:spPr>
          <a:xfrm>
            <a:off x="6309360" y="5440680"/>
            <a:ext cx="548640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headEnd type="arrow"/>
          </a:ln>
        </p:spPr>
      </p:sp>
      <p:sp>
        <p:nvSpPr>
          <p:cNvPr id="67" name="Text 55"/>
          <p:cNvSpPr/>
          <p:nvPr/>
        </p:nvSpPr>
        <p:spPr>
          <a:xfrm>
            <a:off x="109728" y="6620256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B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2026, Amazon Web Services, Inc. or its affiliates. All rights reserved.</a:t>
            </a:r>
            <a:endParaRPr lang="en-US" sz="900" dirty="0"/>
          </a:p>
        </p:txBody>
      </p:sp>
      <p:cxnSp>
        <p:nvCxnSpPr>
          <p:cNvPr id="68" name="Separator"/>
          <p:cNvCxnSpPr/>
          <p:nvPr/>
        </p:nvCxnSpPr>
        <p:spPr>
          <a:xfrm>
            <a:off x="109728" y="1188720"/>
            <a:ext cx="8778239" cy="0"/>
          </a:xfrm>
          <a:prstGeom prst="line">
            <a:avLst/>
          </a:prstGeom>
          <a:ln w="25400">
            <a:solidFill>
              <a:srgbClr val="545B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9" name="Picture 68" descr="Arch_Amazon-Elastic-Kubernetes-Service_48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21208" y="2029968"/>
            <a:ext cx="292608" cy="292608"/>
          </a:xfrm>
          <a:prstGeom prst="rect">
            <a:avLst/>
          </a:prstGeom>
        </p:spPr>
      </p:pic>
      <p:pic>
        <p:nvPicPr>
          <p:cNvPr id="70" name="Picture 69" descr="Arch_Amazon-Managed-Service-for-Prometheus_48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2103120"/>
            <a:ext cx="548640" cy="548640"/>
          </a:xfrm>
          <a:prstGeom prst="rect">
            <a:avLst/>
          </a:prstGeom>
        </p:spPr>
      </p:pic>
      <p:pic>
        <p:nvPicPr>
          <p:cNvPr id="71" name="Picture 70" descr="Arch_Amazon-Simple-Notification-Service_48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03720" y="2103120"/>
            <a:ext cx="548640" cy="548640"/>
          </a:xfrm>
          <a:prstGeom prst="rect">
            <a:avLst/>
          </a:prstGeom>
        </p:spPr>
      </p:pic>
      <p:pic>
        <p:nvPicPr>
          <p:cNvPr id="72" name="Picture 71" descr="Arch_AWS-Lambda_48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03720" y="3657600"/>
            <a:ext cx="548640" cy="548640"/>
          </a:xfrm>
          <a:prstGeom prst="rect">
            <a:avLst/>
          </a:prstGeom>
        </p:spPr>
      </p:pic>
      <p:pic>
        <p:nvPicPr>
          <p:cNvPr id="73" name="Picture 72" descr="Arch_AWS-Secrets-Manager_48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486400" y="3931920"/>
            <a:ext cx="548640" cy="548640"/>
          </a:xfrm>
          <a:prstGeom prst="rect">
            <a:avLst/>
          </a:prstGeom>
        </p:spPr>
      </p:pic>
      <p:pic>
        <p:nvPicPr>
          <p:cNvPr id="74" name="Picture 73" descr="Arch_AWS-DevOps-Agent_48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03720" y="5074920"/>
            <a:ext cx="548640" cy="548640"/>
          </a:xfrm>
          <a:prstGeom prst="rect">
            <a:avLst/>
          </a:prstGeom>
        </p:spPr>
      </p:pic>
      <p:pic>
        <p:nvPicPr>
          <p:cNvPr id="75" name="Picture 74" descr="Arch_Amazon-SageMaker-AI_48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43000" y="5074920"/>
            <a:ext cx="548640" cy="548640"/>
          </a:xfrm>
          <a:prstGeom prst="rect">
            <a:avLst/>
          </a:prstGeom>
        </p:spPr>
      </p:pic>
      <p:pic>
        <p:nvPicPr>
          <p:cNvPr id="76" name="Picture 75" descr="Arch_Amazon-Cognito_48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611880" y="5138928"/>
            <a:ext cx="548640" cy="548640"/>
          </a:xfrm>
          <a:prstGeom prst="rect">
            <a:avLst/>
          </a:prstGeom>
        </p:spPr>
      </p:pic>
      <p:pic>
        <p:nvPicPr>
          <p:cNvPr id="77" name="Picture 76" descr="Arch_Amazon-API-Gateway_48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617720" y="5138928"/>
            <a:ext cx="548640" cy="548640"/>
          </a:xfrm>
          <a:prstGeom prst="rect">
            <a:avLst/>
          </a:prstGeom>
        </p:spPr>
      </p:pic>
      <p:pic>
        <p:nvPicPr>
          <p:cNvPr id="78" name="Picture 77" descr="Arch_AWS-Lambda_48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669280" y="5138928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2026-08-04T17:33:23Z</dcterms:created>
  <dcterms:modified xsi:type="dcterms:W3CDTF">2026-08-04T17:33:23Z</dcterms:modified>
</cp:coreProperties>
</file>